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352"/>
    <p:restoredTop sz="94610"/>
  </p:normalViewPr>
  <p:slideViewPr>
    <p:cSldViewPr snapToGrid="0" snapToObjects="1">
      <p:cViewPr varScale="1">
        <p:scale>
          <a:sx n="149" d="100"/>
          <a:sy n="149" d="100"/>
        </p:scale>
        <p:origin x="46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659489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521333" y="1687860"/>
            <a:ext cx="6101334" cy="1188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4680"/>
              </a:lnSpc>
              <a:spcAft>
                <a:spcPts val="2250"/>
              </a:spcAft>
              <a:buNone/>
            </a:pPr>
            <a:r>
              <a:rPr lang="en-US" sz="3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Plateforme d'Analyse &amp; de Prédiction Automobile</a:t>
            </a:r>
            <a:endParaRPr lang="en-US" sz="3900" dirty="0"/>
          </a:p>
        </p:txBody>
      </p:sp>
      <p:sp>
        <p:nvSpPr>
          <p:cNvPr id="3" name="Text 1"/>
          <p:cNvSpPr/>
          <p:nvPr/>
        </p:nvSpPr>
        <p:spPr>
          <a:xfrm>
            <a:off x="906828" y="3162151"/>
            <a:ext cx="7330345" cy="293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310"/>
              </a:lnSpc>
              <a:buNone/>
            </a:pPr>
            <a:r>
              <a:rPr lang="en-US" sz="165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Une solution intelligente pour piloter les décisions commerciales automobiles.</a:t>
            </a:r>
            <a:endParaRPr lang="en-US" sz="16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9906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71500" y="285750"/>
            <a:ext cx="4090226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3300" b="1" dirty="0">
                <a:solidFill>
                  <a:srgbClr val="4433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Problème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571500" y="1323975"/>
            <a:ext cx="8001000" cy="2843957"/>
          </a:xfrm>
          <a:prstGeom prst="roundRect">
            <a:avLst>
              <a:gd name="adj" fmla="val 3349"/>
            </a:avLst>
          </a:prstGeom>
          <a:solidFill>
            <a:srgbClr val="FFFFFF"/>
          </a:solidFill>
          <a:ln/>
          <a:effectLst>
            <a:outerShdw blurRad="152400" dist="57150" dir="5400000" algn="bl" rotWithShape="0">
              <a:srgbClr val="000000">
                <a:alpha val="12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000125" y="1590675"/>
            <a:ext cx="7286625" cy="2533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95"/>
              </a:lnSpc>
              <a:spcAft>
                <a:spcPts val="1200"/>
              </a:spcAft>
              <a:buNone/>
            </a:pPr>
            <a:r>
              <a:rPr lang="en-US" sz="1425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 concessions et vendeurs automobiles manquent d'outils simples pour :</a:t>
            </a:r>
            <a:endParaRPr lang="en-US" sz="1425" dirty="0"/>
          </a:p>
        </p:txBody>
      </p:sp>
      <p:sp>
        <p:nvSpPr>
          <p:cNvPr id="6" name="Text 4"/>
          <p:cNvSpPr/>
          <p:nvPr/>
        </p:nvSpPr>
        <p:spPr>
          <a:xfrm>
            <a:off x="1000125" y="1996380"/>
            <a:ext cx="7286625" cy="2266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85"/>
              </a:lnSpc>
              <a:spcAft>
                <a:spcPts val="825"/>
              </a:spcAft>
              <a:buNone/>
            </a:pPr>
            <a:r>
              <a:rPr lang="en-US" sz="1275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Comparer rapidement des véhicules</a:t>
            </a:r>
            <a:endParaRPr lang="en-US" sz="1275" dirty="0"/>
          </a:p>
        </p:txBody>
      </p:sp>
      <p:sp>
        <p:nvSpPr>
          <p:cNvPr id="7" name="Text 5"/>
          <p:cNvSpPr/>
          <p:nvPr/>
        </p:nvSpPr>
        <p:spPr>
          <a:xfrm>
            <a:off x="1000125" y="2327821"/>
            <a:ext cx="7286625" cy="2266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85"/>
              </a:lnSpc>
              <a:spcAft>
                <a:spcPts val="825"/>
              </a:spcAft>
              <a:buNone/>
            </a:pPr>
            <a:r>
              <a:rPr lang="en-US" sz="1275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Analyser les prospects</a:t>
            </a:r>
            <a:endParaRPr lang="en-US" sz="1275" dirty="0"/>
          </a:p>
        </p:txBody>
      </p:sp>
      <p:sp>
        <p:nvSpPr>
          <p:cNvPr id="8" name="Text 6"/>
          <p:cNvSpPr/>
          <p:nvPr/>
        </p:nvSpPr>
        <p:spPr>
          <a:xfrm>
            <a:off x="1000125" y="2659261"/>
            <a:ext cx="7286625" cy="2266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85"/>
              </a:lnSpc>
              <a:spcAft>
                <a:spcPts val="825"/>
              </a:spcAft>
              <a:buNone/>
            </a:pPr>
            <a:r>
              <a:rPr lang="en-US" sz="1275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Prédire l'intention d'achat</a:t>
            </a:r>
            <a:endParaRPr lang="en-US" sz="1275" dirty="0"/>
          </a:p>
        </p:txBody>
      </p:sp>
      <p:sp>
        <p:nvSpPr>
          <p:cNvPr id="9" name="Text 7"/>
          <p:cNvSpPr/>
          <p:nvPr/>
        </p:nvSpPr>
        <p:spPr>
          <a:xfrm>
            <a:off x="1000125" y="2990701"/>
            <a:ext cx="7286625" cy="2266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85"/>
              </a:lnSpc>
              <a:spcAft>
                <a:spcPts val="825"/>
              </a:spcAft>
              <a:buNone/>
            </a:pPr>
            <a:r>
              <a:rPr lang="en-US" sz="1275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Exploiter efficacement leurs données internes</a:t>
            </a:r>
            <a:endParaRPr lang="en-US" sz="1275" dirty="0"/>
          </a:p>
        </p:txBody>
      </p:sp>
      <p:pic>
        <p:nvPicPr>
          <p:cNvPr id="10" name="Image 0" descr="/tmp/rasterized-gradient-b6d5152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0125" y="3369766"/>
            <a:ext cx="7143750" cy="493365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09675" y="3503116"/>
            <a:ext cx="6859143" cy="2266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85"/>
              </a:lnSpc>
              <a:buNone/>
            </a:pPr>
            <a:r>
              <a:rPr lang="en-US" sz="12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➜ Résultat : perte de prospects et décisions moins efficaces.</a:t>
            </a:r>
            <a:endParaRPr lang="en-US" sz="127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9906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71500" y="285750"/>
            <a:ext cx="4090226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3300" b="1" dirty="0">
                <a:solidFill>
                  <a:srgbClr val="4433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L'Opportunité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571500" y="1323975"/>
            <a:ext cx="8001000" cy="2297311"/>
          </a:xfrm>
          <a:prstGeom prst="roundRect">
            <a:avLst>
              <a:gd name="adj" fmla="val 4146"/>
            </a:avLst>
          </a:prstGeom>
          <a:solidFill>
            <a:srgbClr val="FFFFFF"/>
          </a:solidFill>
          <a:ln/>
          <a:effectLst>
            <a:outerShdw blurRad="152400" dist="57150" dir="5400000" algn="bl" rotWithShape="0">
              <a:srgbClr val="000000">
                <a:alpha val="12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000125" y="1628775"/>
            <a:ext cx="7286625" cy="2266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85"/>
              </a:lnSpc>
              <a:spcAft>
                <a:spcPts val="1125"/>
              </a:spcAft>
              <a:buNone/>
            </a:pPr>
            <a:r>
              <a:rPr lang="en-US" sz="1275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Le secteur automobile génère des volumes de données énormes</a:t>
            </a:r>
            <a:endParaRPr lang="en-US" sz="1275" dirty="0"/>
          </a:p>
        </p:txBody>
      </p:sp>
      <p:sp>
        <p:nvSpPr>
          <p:cNvPr id="6" name="Text 4"/>
          <p:cNvSpPr/>
          <p:nvPr/>
        </p:nvSpPr>
        <p:spPr>
          <a:xfrm>
            <a:off x="1000125" y="1998315"/>
            <a:ext cx="7286625" cy="2266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85"/>
              </a:lnSpc>
              <a:spcAft>
                <a:spcPts val="1125"/>
              </a:spcAft>
              <a:buNone/>
            </a:pPr>
            <a:r>
              <a:rPr lang="en-US" sz="1275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Les équipes commerciales n'ont pas d'outil adapté et intuitif</a:t>
            </a:r>
            <a:endParaRPr lang="en-US" sz="1275" dirty="0"/>
          </a:p>
        </p:txBody>
      </p:sp>
      <p:sp>
        <p:nvSpPr>
          <p:cNvPr id="7" name="Text 5"/>
          <p:cNvSpPr/>
          <p:nvPr/>
        </p:nvSpPr>
        <p:spPr>
          <a:xfrm>
            <a:off x="1000125" y="2367855"/>
            <a:ext cx="7286625" cy="2266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85"/>
              </a:lnSpc>
              <a:spcAft>
                <a:spcPts val="1125"/>
              </a:spcAft>
              <a:buNone/>
            </a:pPr>
            <a:r>
              <a:rPr lang="en-US" sz="1275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Les solutions actuelles sont complexes, chères ou inexistantes</a:t>
            </a:r>
            <a:endParaRPr lang="en-US" sz="1275" dirty="0"/>
          </a:p>
        </p:txBody>
      </p:sp>
      <p:pic>
        <p:nvPicPr>
          <p:cNvPr id="8" name="Image 0" descr="/tmp/rasterized-gradient-028c00a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0125" y="2785021"/>
            <a:ext cx="7143750" cy="531465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209675" y="2937421"/>
            <a:ext cx="6859143" cy="2266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85"/>
              </a:lnSpc>
              <a:buNone/>
            </a:pPr>
            <a:r>
              <a:rPr lang="en-US" sz="12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➜ Une vraie opportunité pour un outil simple, moderne et prédictif.</a:t>
            </a:r>
            <a:endParaRPr lang="en-US" sz="1275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9906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71500" y="285750"/>
            <a:ext cx="4090226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3300" b="1" dirty="0">
                <a:solidFill>
                  <a:srgbClr val="4433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Notre Solution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571500" y="1323975"/>
            <a:ext cx="8001000" cy="3118247"/>
          </a:xfrm>
          <a:prstGeom prst="roundRect">
            <a:avLst>
              <a:gd name="adj" fmla="val 3055"/>
            </a:avLst>
          </a:prstGeom>
          <a:solidFill>
            <a:srgbClr val="FFFFFF"/>
          </a:solidFill>
          <a:ln/>
          <a:effectLst>
            <a:outerShdw blurRad="152400" dist="57150" dir="5400000" algn="bl" rotWithShape="0">
              <a:srgbClr val="000000">
                <a:alpha val="12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000125" y="1571625"/>
            <a:ext cx="7286625" cy="2533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95"/>
              </a:lnSpc>
              <a:spcAft>
                <a:spcPts val="1050"/>
              </a:spcAft>
              <a:buNone/>
            </a:pPr>
            <a:r>
              <a:rPr lang="en-US" sz="1425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Une plateforme Web qui permet :</a:t>
            </a:r>
            <a:endParaRPr lang="en-US" sz="1425" dirty="0"/>
          </a:p>
        </p:txBody>
      </p:sp>
      <p:sp>
        <p:nvSpPr>
          <p:cNvPr id="6" name="Text 4"/>
          <p:cNvSpPr/>
          <p:nvPr/>
        </p:nvSpPr>
        <p:spPr>
          <a:xfrm>
            <a:off x="1000125" y="1958280"/>
            <a:ext cx="7286625" cy="2266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85"/>
              </a:lnSpc>
              <a:spcAft>
                <a:spcPts val="825"/>
              </a:spcAft>
              <a:buNone/>
            </a:pPr>
            <a:r>
              <a:rPr lang="en-US" sz="1275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Comparaison instantanée des véhicules</a:t>
            </a:r>
            <a:endParaRPr lang="en-US" sz="1275" dirty="0"/>
          </a:p>
        </p:txBody>
      </p:sp>
      <p:sp>
        <p:nvSpPr>
          <p:cNvPr id="7" name="Text 5"/>
          <p:cNvSpPr/>
          <p:nvPr/>
        </p:nvSpPr>
        <p:spPr>
          <a:xfrm>
            <a:off x="1000125" y="2289721"/>
            <a:ext cx="7286625" cy="2266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85"/>
              </a:lnSpc>
              <a:spcAft>
                <a:spcPts val="825"/>
              </a:spcAft>
              <a:buNone/>
            </a:pPr>
            <a:r>
              <a:rPr lang="en-US" sz="1275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Analyse comportementale des prospects</a:t>
            </a:r>
            <a:endParaRPr lang="en-US" sz="1275" dirty="0"/>
          </a:p>
        </p:txBody>
      </p:sp>
      <p:sp>
        <p:nvSpPr>
          <p:cNvPr id="8" name="Text 6"/>
          <p:cNvSpPr/>
          <p:nvPr/>
        </p:nvSpPr>
        <p:spPr>
          <a:xfrm>
            <a:off x="1000125" y="2621161"/>
            <a:ext cx="7286625" cy="2266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85"/>
              </a:lnSpc>
              <a:spcAft>
                <a:spcPts val="825"/>
              </a:spcAft>
              <a:buNone/>
            </a:pPr>
            <a:r>
              <a:rPr lang="en-US" sz="1275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Modèle prédictif d'intention d'achat</a:t>
            </a:r>
            <a:endParaRPr lang="en-US" sz="1275" dirty="0"/>
          </a:p>
        </p:txBody>
      </p:sp>
      <p:sp>
        <p:nvSpPr>
          <p:cNvPr id="9" name="Text 7"/>
          <p:cNvSpPr/>
          <p:nvPr/>
        </p:nvSpPr>
        <p:spPr>
          <a:xfrm>
            <a:off x="1000125" y="2952601"/>
            <a:ext cx="7286625" cy="2266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85"/>
              </a:lnSpc>
              <a:spcAft>
                <a:spcPts val="825"/>
              </a:spcAft>
              <a:buNone/>
            </a:pPr>
            <a:r>
              <a:rPr lang="en-US" sz="1275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Pipeline de données automatisé</a:t>
            </a:r>
            <a:endParaRPr lang="en-US" sz="1275" dirty="0"/>
          </a:p>
        </p:txBody>
      </p:sp>
      <p:sp>
        <p:nvSpPr>
          <p:cNvPr id="10" name="Text 8"/>
          <p:cNvSpPr/>
          <p:nvPr/>
        </p:nvSpPr>
        <p:spPr>
          <a:xfrm>
            <a:off x="1000125" y="3284041"/>
            <a:ext cx="7286625" cy="2266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85"/>
              </a:lnSpc>
              <a:spcAft>
                <a:spcPts val="825"/>
              </a:spcAft>
              <a:buNone/>
            </a:pPr>
            <a:r>
              <a:rPr lang="en-US" sz="1275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Déploiement en un clic via Docker</a:t>
            </a:r>
            <a:endParaRPr lang="en-US" sz="1275" dirty="0"/>
          </a:p>
        </p:txBody>
      </p:sp>
      <p:sp>
        <p:nvSpPr>
          <p:cNvPr id="11" name="Text 9"/>
          <p:cNvSpPr/>
          <p:nvPr/>
        </p:nvSpPr>
        <p:spPr>
          <a:xfrm>
            <a:off x="1000125" y="3663107"/>
            <a:ext cx="7143750" cy="493365"/>
          </a:xfrm>
          <a:prstGeom prst="roundRect">
            <a:avLst>
              <a:gd name="adj" fmla="val 13514"/>
            </a:avLst>
          </a:prstGeom>
          <a:solidFill>
            <a:srgbClr val="FEF3C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1014413" y="3663107"/>
            <a:ext cx="0" cy="493365"/>
          </a:xfrm>
          <a:prstGeom prst="line">
            <a:avLst/>
          </a:prstGeom>
          <a:noFill/>
          <a:ln w="28575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Text 11"/>
          <p:cNvSpPr/>
          <p:nvPr/>
        </p:nvSpPr>
        <p:spPr>
          <a:xfrm>
            <a:off x="1219200" y="3796457"/>
            <a:ext cx="6868859" cy="2266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85"/>
              </a:lnSpc>
              <a:buNone/>
            </a:pPr>
            <a:r>
              <a:rPr lang="en-US" sz="1275" b="1" dirty="0">
                <a:solidFill>
                  <a:srgbClr val="7835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➜ Une solution complète, rapide, et déjà opérationnelle.</a:t>
            </a:r>
            <a:endParaRPr lang="en-US" sz="1275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9906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71500" y="285750"/>
            <a:ext cx="4109657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3300" b="1" dirty="0">
                <a:solidFill>
                  <a:srgbClr val="4433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Fonctionnalités clés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571500" y="1323975"/>
            <a:ext cx="8001000" cy="2804071"/>
          </a:xfrm>
          <a:prstGeom prst="roundRect">
            <a:avLst>
              <a:gd name="adj" fmla="val 3397"/>
            </a:avLst>
          </a:prstGeom>
          <a:solidFill>
            <a:srgbClr val="FFFFFF"/>
          </a:solidFill>
          <a:ln/>
          <a:effectLst>
            <a:outerShdw blurRad="152400" dist="57150" dir="5400000" algn="bl" rotWithShape="0">
              <a:srgbClr val="000000">
                <a:alpha val="12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000125" y="1628775"/>
            <a:ext cx="72866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spcAft>
                <a:spcPts val="375"/>
              </a:spcAft>
              <a:buNone/>
            </a:pPr>
            <a:r>
              <a:rPr lang="en-US" sz="1500" b="1" dirty="0">
                <a:solidFill>
                  <a:srgbClr val="667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Comparateur de véhicules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000125" y="1905000"/>
            <a:ext cx="7286625" cy="2266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85"/>
              </a:lnSpc>
              <a:buNone/>
            </a:pPr>
            <a:r>
              <a:rPr lang="en-US" sz="1275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Analyse instantanée des caractéristiques, prix, options.</a:t>
            </a:r>
            <a:endParaRPr lang="en-US" sz="1275" dirty="0"/>
          </a:p>
        </p:txBody>
      </p:sp>
      <p:sp>
        <p:nvSpPr>
          <p:cNvPr id="7" name="Text 5"/>
          <p:cNvSpPr/>
          <p:nvPr/>
        </p:nvSpPr>
        <p:spPr>
          <a:xfrm>
            <a:off x="1000125" y="2360265"/>
            <a:ext cx="72866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spcAft>
                <a:spcPts val="375"/>
              </a:spcAft>
              <a:buNone/>
            </a:pPr>
            <a:r>
              <a:rPr lang="en-US" sz="1500" b="1" dirty="0">
                <a:solidFill>
                  <a:srgbClr val="667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Analyse de prospects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000125" y="2636490"/>
            <a:ext cx="7286625" cy="2266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85"/>
              </a:lnSpc>
              <a:buNone/>
            </a:pPr>
            <a:r>
              <a:rPr lang="en-US" sz="1275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Âge, réduction appliquée, pages vues.</a:t>
            </a:r>
            <a:endParaRPr lang="en-US" sz="1275" dirty="0"/>
          </a:p>
        </p:txBody>
      </p:sp>
      <p:sp>
        <p:nvSpPr>
          <p:cNvPr id="9" name="Text 7"/>
          <p:cNvSpPr/>
          <p:nvPr/>
        </p:nvSpPr>
        <p:spPr>
          <a:xfrm>
            <a:off x="1000125" y="3091755"/>
            <a:ext cx="72866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spcAft>
                <a:spcPts val="375"/>
              </a:spcAft>
              <a:buNone/>
            </a:pPr>
            <a:r>
              <a:rPr lang="en-US" sz="1500" b="1" dirty="0">
                <a:solidFill>
                  <a:srgbClr val="667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Prédiction d'achat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000125" y="3367980"/>
            <a:ext cx="7286625" cy="2266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85"/>
              </a:lnSpc>
              <a:buNone/>
            </a:pPr>
            <a:r>
              <a:rPr lang="en-US" sz="1275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Modèle ML intégré : score clair et interprétable.</a:t>
            </a:r>
            <a:endParaRPr lang="en-US" sz="1275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9906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71500" y="285750"/>
            <a:ext cx="4090226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3300" b="1" dirty="0">
                <a:solidFill>
                  <a:srgbClr val="4433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 du projet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571500" y="1276350"/>
            <a:ext cx="8001000" cy="3327797"/>
          </a:xfrm>
          <a:prstGeom prst="roundRect">
            <a:avLst>
              <a:gd name="adj" fmla="val 2862"/>
            </a:avLst>
          </a:prstGeom>
          <a:solidFill>
            <a:srgbClr val="FFFFFF"/>
          </a:solidFill>
          <a:ln/>
          <a:effectLst>
            <a:outerShdw blurRad="152400" dist="57150" dir="5400000" algn="bl" rotWithShape="0">
              <a:srgbClr val="000000">
                <a:alpha val="12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904875" y="1447800"/>
            <a:ext cx="7480935" cy="1541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15"/>
              </a:lnSpc>
              <a:spcAft>
                <a:spcPts val="75"/>
              </a:spcAft>
              <a:buNone/>
            </a:pPr>
            <a:r>
              <a:rPr lang="en-US" sz="900" b="1" dirty="0">
                <a:solidFill>
                  <a:srgbClr val="D9770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PROJET_STREAMLIT_LINUX/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904875" y="1611511"/>
            <a:ext cx="7480935" cy="1541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15"/>
              </a:lnSpc>
              <a:spcAft>
                <a:spcPts val="75"/>
              </a:spcAft>
              <a:buNone/>
            </a:pPr>
            <a:r>
              <a:rPr lang="en-US" sz="900" dirty="0">
                <a:solidFill>
                  <a:srgbClr val="2D37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│── </a:t>
            </a:r>
            <a:r>
              <a:rPr lang="en-US" sz="900" dirty="0">
                <a:solidFill>
                  <a:srgbClr val="2563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app.py</a:t>
            </a:r>
            <a:r>
              <a:rPr lang="en-US" sz="900" dirty="0">
                <a:solidFill>
                  <a:srgbClr val="2D37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application Streamlit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904875" y="1775222"/>
            <a:ext cx="7480935" cy="1541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15"/>
              </a:lnSpc>
              <a:spcAft>
                <a:spcPts val="75"/>
              </a:spcAft>
              <a:buNone/>
            </a:pPr>
            <a:r>
              <a:rPr lang="en-US" sz="900" dirty="0">
                <a:solidFill>
                  <a:srgbClr val="2D37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│── </a:t>
            </a:r>
            <a:r>
              <a:rPr lang="en-US" sz="900" b="1" dirty="0">
                <a:solidFill>
                  <a:srgbClr val="D9770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</a:t>
            </a:r>
            <a:r>
              <a:rPr lang="en-US" sz="90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</a:t>
            </a:r>
            <a:r>
              <a:rPr lang="en-US" sz="900" dirty="0">
                <a:solidFill>
                  <a:srgbClr val="2D37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jeu de données principal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904875" y="1938933"/>
            <a:ext cx="7480935" cy="1541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15"/>
              </a:lnSpc>
              <a:spcAft>
                <a:spcPts val="75"/>
              </a:spcAft>
              <a:buNone/>
            </a:pPr>
            <a:r>
              <a:rPr lang="en-US" sz="900" dirty="0">
                <a:solidFill>
                  <a:srgbClr val="2D37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│── </a:t>
            </a:r>
            <a:r>
              <a:rPr lang="en-US" sz="900" dirty="0">
                <a:solidFill>
                  <a:srgbClr val="2563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deploy.sh</a:t>
            </a:r>
            <a:r>
              <a:rPr lang="en-US" sz="900" dirty="0">
                <a:solidFill>
                  <a:srgbClr val="2D37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script de lancement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904875" y="2102644"/>
            <a:ext cx="7480935" cy="1541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15"/>
              </a:lnSpc>
              <a:spcAft>
                <a:spcPts val="75"/>
              </a:spcAft>
              <a:buNone/>
            </a:pPr>
            <a:r>
              <a:rPr lang="en-US" sz="900" dirty="0">
                <a:solidFill>
                  <a:srgbClr val="2D37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│── </a:t>
            </a:r>
            <a:r>
              <a:rPr lang="en-US" sz="900" dirty="0">
                <a:solidFill>
                  <a:srgbClr val="2563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Dockerfile</a:t>
            </a:r>
            <a:r>
              <a:rPr lang="en-US" sz="900" dirty="0">
                <a:solidFill>
                  <a:srgbClr val="2D37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image Docker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904875" y="2266355"/>
            <a:ext cx="7480935" cy="1541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15"/>
              </a:lnSpc>
              <a:spcAft>
                <a:spcPts val="75"/>
              </a:spcAft>
              <a:buNone/>
            </a:pPr>
            <a:r>
              <a:rPr lang="en-US" sz="900" dirty="0">
                <a:solidFill>
                  <a:srgbClr val="2D37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│── </a:t>
            </a:r>
            <a:r>
              <a:rPr lang="en-US" sz="900" dirty="0">
                <a:solidFill>
                  <a:srgbClr val="2563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mosef_marketing.csv</a:t>
            </a:r>
            <a:r>
              <a:rPr lang="en-US" sz="900" dirty="0">
                <a:solidFill>
                  <a:srgbClr val="2D37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données marketing (non </a:t>
            </a:r>
            <a:r>
              <a:rPr lang="en-US" sz="900" dirty="0" err="1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utilisées</a:t>
            </a:r>
            <a:r>
              <a:rPr lang="en-US" sz="9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904875" y="2430066"/>
            <a:ext cx="7480935" cy="1541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15"/>
              </a:lnSpc>
              <a:spcAft>
                <a:spcPts val="75"/>
              </a:spcAft>
              <a:buNone/>
            </a:pPr>
            <a:r>
              <a:rPr lang="en-US" sz="900" dirty="0">
                <a:solidFill>
                  <a:srgbClr val="2D37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│── </a:t>
            </a:r>
            <a:r>
              <a:rPr lang="en-US" sz="900" dirty="0">
                <a:solidFill>
                  <a:srgbClr val="2563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poetry.lock</a:t>
            </a:r>
            <a:r>
              <a:rPr lang="en-US" sz="900" dirty="0">
                <a:solidFill>
                  <a:srgbClr val="2D37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versions figées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904875" y="2593777"/>
            <a:ext cx="7480935" cy="1541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15"/>
              </a:lnSpc>
              <a:spcAft>
                <a:spcPts val="75"/>
              </a:spcAft>
              <a:buNone/>
            </a:pPr>
            <a:r>
              <a:rPr lang="en-US" sz="900" dirty="0">
                <a:solidFill>
                  <a:srgbClr val="2D37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│── </a:t>
            </a:r>
            <a:r>
              <a:rPr lang="en-US" sz="900" dirty="0">
                <a:solidFill>
                  <a:srgbClr val="2563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pyproject.toml</a:t>
            </a:r>
            <a:r>
              <a:rPr lang="en-US" sz="900" dirty="0">
                <a:solidFill>
                  <a:srgbClr val="2D37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configuration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904875" y="2757488"/>
            <a:ext cx="7480935" cy="1541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15"/>
              </a:lnSpc>
              <a:spcAft>
                <a:spcPts val="75"/>
              </a:spcAft>
              <a:buNone/>
            </a:pPr>
            <a:r>
              <a:rPr lang="en-US" sz="900" dirty="0">
                <a:solidFill>
                  <a:srgbClr val="2D37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│── </a:t>
            </a:r>
            <a:r>
              <a:rPr lang="en-US" sz="900" dirty="0">
                <a:solidFill>
                  <a:srgbClr val="2563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README.md</a:t>
            </a:r>
            <a:r>
              <a:rPr lang="en-US" sz="900" dirty="0">
                <a:solidFill>
                  <a:srgbClr val="2D37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documentation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904875" y="2921198"/>
            <a:ext cx="7480935" cy="1541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15"/>
              </a:lnSpc>
              <a:spcAft>
                <a:spcPts val="75"/>
              </a:spcAft>
              <a:buNone/>
            </a:pPr>
            <a:r>
              <a:rPr lang="en-US" sz="900" dirty="0">
                <a:solidFill>
                  <a:srgbClr val="2D37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904875" y="3084909"/>
            <a:ext cx="7480935" cy="1541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15"/>
              </a:lnSpc>
              <a:spcAft>
                <a:spcPts val="75"/>
              </a:spcAft>
              <a:buNone/>
            </a:pPr>
            <a:r>
              <a:rPr lang="en-US" sz="900" dirty="0">
                <a:solidFill>
                  <a:srgbClr val="2D37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</a:t>
            </a:r>
            <a:r>
              <a:rPr lang="en-US" sz="900" b="1" dirty="0">
                <a:solidFill>
                  <a:srgbClr val="D9770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.venv/</a:t>
            </a:r>
            <a:r>
              <a:rPr lang="en-US" sz="900" dirty="0">
                <a:solidFill>
                  <a:srgbClr val="2D37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environnement virtuel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904875" y="3248620"/>
            <a:ext cx="7480935" cy="1541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15"/>
              </a:lnSpc>
              <a:spcAft>
                <a:spcPts val="75"/>
              </a:spcAft>
              <a:buNone/>
            </a:pPr>
            <a:r>
              <a:rPr lang="en-US" sz="900" dirty="0">
                <a:solidFill>
                  <a:srgbClr val="2D37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</a:t>
            </a:r>
            <a:r>
              <a:rPr lang="en-US" sz="900" b="1" dirty="0">
                <a:solidFill>
                  <a:srgbClr val="D9770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catboost_info/</a:t>
            </a:r>
            <a:r>
              <a:rPr lang="en-US" sz="900" dirty="0">
                <a:solidFill>
                  <a:srgbClr val="2D37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modèle ML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904875" y="3412331"/>
            <a:ext cx="7480935" cy="1541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15"/>
              </a:lnSpc>
              <a:spcAft>
                <a:spcPts val="75"/>
              </a:spcAft>
              <a:buNone/>
            </a:pPr>
            <a:r>
              <a:rPr lang="en-US" sz="900" dirty="0">
                <a:solidFill>
                  <a:srgbClr val="2D37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└── </a:t>
            </a:r>
            <a:r>
              <a:rPr lang="en-US" sz="900" b="1" dirty="0">
                <a:solidFill>
                  <a:srgbClr val="D9770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data_collector/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904875" y="3576042"/>
            <a:ext cx="7480935" cy="1541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15"/>
              </a:lnSpc>
              <a:spcAft>
                <a:spcPts val="75"/>
              </a:spcAft>
              <a:buNone/>
            </a:pPr>
            <a:r>
              <a:rPr lang="en-US" sz="900" dirty="0">
                <a:solidFill>
                  <a:srgbClr val="2D37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</a:t>
            </a:r>
            <a:r>
              <a:rPr lang="en-US" sz="900" b="1" dirty="0">
                <a:solidFill>
                  <a:srgbClr val="D9770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bin/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904875" y="3739753"/>
            <a:ext cx="7480935" cy="1541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15"/>
              </a:lnSpc>
              <a:spcAft>
                <a:spcPts val="75"/>
              </a:spcAft>
              <a:buNone/>
            </a:pPr>
            <a:r>
              <a:rPr lang="en-US" sz="900" dirty="0">
                <a:solidFill>
                  <a:srgbClr val="2D37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├── </a:t>
            </a:r>
            <a:r>
              <a:rPr lang="en-US" sz="900" dirty="0">
                <a:solidFill>
                  <a:srgbClr val="2563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get_data.sh</a:t>
            </a:r>
            <a:r>
              <a:rPr lang="en-US" sz="900" dirty="0">
                <a:solidFill>
                  <a:srgbClr val="2D37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récupération données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904875" y="3903464"/>
            <a:ext cx="7480935" cy="1541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15"/>
              </a:lnSpc>
              <a:spcAft>
                <a:spcPts val="75"/>
              </a:spcAft>
              <a:buNone/>
            </a:pPr>
            <a:r>
              <a:rPr lang="en-US" sz="900" dirty="0">
                <a:solidFill>
                  <a:srgbClr val="2D37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└── </a:t>
            </a:r>
            <a:r>
              <a:rPr lang="en-US" sz="900" dirty="0">
                <a:solidFill>
                  <a:srgbClr val="2563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run.sh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904875" y="4067175"/>
            <a:ext cx="7480935" cy="1541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15"/>
              </a:lnSpc>
              <a:spcAft>
                <a:spcPts val="75"/>
              </a:spcAft>
              <a:buNone/>
            </a:pPr>
            <a:r>
              <a:rPr lang="en-US" sz="900" dirty="0">
                <a:solidFill>
                  <a:srgbClr val="2D37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└── </a:t>
            </a:r>
            <a:r>
              <a:rPr lang="en-US" sz="900" b="1" dirty="0">
                <a:solidFill>
                  <a:srgbClr val="D9770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conf/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904875" y="4230886"/>
            <a:ext cx="7480935" cy="1541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15"/>
              </a:lnSpc>
              <a:spcAft>
                <a:spcPts val="75"/>
              </a:spcAft>
              <a:buNone/>
            </a:pPr>
            <a:r>
              <a:rPr lang="en-US" sz="900" dirty="0">
                <a:solidFill>
                  <a:srgbClr val="2D37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└── </a:t>
            </a:r>
            <a:r>
              <a:rPr lang="en-US" sz="900" dirty="0">
                <a:solidFill>
                  <a:srgbClr val="2563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collector.conf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93345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71500" y="285750"/>
            <a:ext cx="5868162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850" b="1" dirty="0">
                <a:solidFill>
                  <a:srgbClr val="4433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 de données (automatisé)</a:t>
            </a:r>
            <a:endParaRPr lang="en-US" sz="2850" dirty="0"/>
          </a:p>
        </p:txBody>
      </p:sp>
      <p:sp>
        <p:nvSpPr>
          <p:cNvPr id="4" name="Text 2"/>
          <p:cNvSpPr/>
          <p:nvPr/>
        </p:nvSpPr>
        <p:spPr>
          <a:xfrm>
            <a:off x="571500" y="1266825"/>
            <a:ext cx="8001000" cy="2786509"/>
          </a:xfrm>
          <a:prstGeom prst="roundRect">
            <a:avLst>
              <a:gd name="adj" fmla="val 3418"/>
            </a:avLst>
          </a:prstGeom>
          <a:solidFill>
            <a:srgbClr val="FFFFFF"/>
          </a:solidFill>
          <a:ln/>
          <a:effectLst>
            <a:outerShdw blurRad="152400" dist="57150" dir="5400000" algn="bl" rotWithShape="0">
              <a:srgbClr val="000000">
                <a:alpha val="12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000125" y="1533525"/>
            <a:ext cx="7286625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90"/>
              </a:lnSpc>
              <a:spcAft>
                <a:spcPts val="1050"/>
              </a:spcAft>
              <a:buNone/>
            </a:pPr>
            <a:r>
              <a:rPr lang="en-US" sz="1575" b="1" dirty="0">
                <a:solidFill>
                  <a:srgbClr val="667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Étapes automatisées :</a:t>
            </a:r>
            <a:endParaRPr lang="en-US" sz="1575" dirty="0"/>
          </a:p>
        </p:txBody>
      </p:sp>
      <p:sp>
        <p:nvSpPr>
          <p:cNvPr id="6" name="Text 4"/>
          <p:cNvSpPr/>
          <p:nvPr/>
        </p:nvSpPr>
        <p:spPr>
          <a:xfrm>
            <a:off x="1000125" y="1906786"/>
            <a:ext cx="7286625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spcAft>
                <a:spcPts val="900"/>
              </a:spcAft>
              <a:buNone/>
            </a:pPr>
            <a:r>
              <a:rPr lang="en-US" sz="12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Le script get_data.sh télécharge les données depuis Google Drive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00125" y="2234357"/>
            <a:ext cx="7286625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spcAft>
                <a:spcPts val="900"/>
              </a:spcAft>
              <a:buNone/>
            </a:pPr>
            <a:r>
              <a:rPr lang="en-US" sz="12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Le fichier data.csv est </a:t>
            </a:r>
            <a:r>
              <a:rPr lang="en-US" sz="1200" dirty="0" err="1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placé</a:t>
            </a:r>
            <a:r>
              <a:rPr lang="en-US" sz="12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dans </a:t>
            </a:r>
            <a:r>
              <a:rPr lang="en-US" sz="120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dossier data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00125" y="2561927"/>
            <a:ext cx="7286625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spcAft>
                <a:spcPts val="900"/>
              </a:spcAft>
              <a:buNone/>
            </a:pPr>
            <a:r>
              <a:rPr lang="en-US" sz="12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L'application charge automatiquement les données à son démarrage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00125" y="2889498"/>
            <a:ext cx="7286625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spcAft>
                <a:spcPts val="900"/>
              </a:spcAft>
              <a:buNone/>
            </a:pPr>
            <a:r>
              <a:rPr lang="en-US" sz="12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La visualisation + prédiction sont mises à jour instantanément</a:t>
            </a:r>
            <a:endParaRPr lang="en-US" sz="1200" dirty="0"/>
          </a:p>
        </p:txBody>
      </p:sp>
      <p:pic>
        <p:nvPicPr>
          <p:cNvPr id="10" name="Image 0" descr="/tmp/rasterized-gradient-ef7514b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0125" y="3255169"/>
            <a:ext cx="7143750" cy="493365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09675" y="3388519"/>
            <a:ext cx="6859143" cy="2266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85"/>
              </a:lnSpc>
              <a:buNone/>
            </a:pPr>
            <a:r>
              <a:rPr lang="en-US" sz="12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➜ Pas de manipulations manuelles → flux fiable et reproductible.</a:t>
            </a:r>
            <a:endParaRPr lang="en-US" sz="1275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93345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71500" y="285750"/>
            <a:ext cx="5469827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850" b="1" dirty="0">
                <a:solidFill>
                  <a:srgbClr val="4433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Comment lancer l'application ?</a:t>
            </a:r>
            <a:endParaRPr lang="en-US" sz="2850" dirty="0"/>
          </a:p>
        </p:txBody>
      </p:sp>
      <p:sp>
        <p:nvSpPr>
          <p:cNvPr id="4" name="Text 2"/>
          <p:cNvSpPr/>
          <p:nvPr/>
        </p:nvSpPr>
        <p:spPr>
          <a:xfrm>
            <a:off x="571500" y="1219200"/>
            <a:ext cx="8001000" cy="3483918"/>
          </a:xfrm>
          <a:prstGeom prst="roundRect">
            <a:avLst>
              <a:gd name="adj" fmla="val 2734"/>
            </a:avLst>
          </a:prstGeom>
          <a:solidFill>
            <a:srgbClr val="FFFFFF"/>
          </a:solidFill>
          <a:ln/>
          <a:effectLst>
            <a:outerShdw blurRad="152400" dist="57150" dir="5400000" algn="bl" rotWithShape="0">
              <a:srgbClr val="000000">
                <a:alpha val="12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952500" y="1447800"/>
            <a:ext cx="7383780" cy="2171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10"/>
              </a:lnSpc>
              <a:spcAft>
                <a:spcPts val="450"/>
              </a:spcAft>
              <a:buNone/>
            </a:pPr>
            <a:r>
              <a:rPr lang="en-US" sz="1425" b="1" dirty="0">
                <a:solidFill>
                  <a:srgbClr val="667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Récupération des données</a:t>
            </a:r>
            <a:endParaRPr lang="en-US" sz="1425" dirty="0"/>
          </a:p>
        </p:txBody>
      </p:sp>
      <p:sp>
        <p:nvSpPr>
          <p:cNvPr id="6" name="Text 4"/>
          <p:cNvSpPr/>
          <p:nvPr/>
        </p:nvSpPr>
        <p:spPr>
          <a:xfrm>
            <a:off x="952500" y="1722090"/>
            <a:ext cx="7239000" cy="377130"/>
          </a:xfrm>
          <a:prstGeom prst="roundRect">
            <a:avLst>
              <a:gd name="adj" fmla="val 15154"/>
            </a:avLst>
          </a:prstGeom>
          <a:solidFill>
            <a:srgbClr val="1A202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1104900" y="1817340"/>
            <a:ext cx="7072884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bash data_collector/bin/get_data.sh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952500" y="2270671"/>
            <a:ext cx="7383780" cy="2171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10"/>
              </a:lnSpc>
              <a:spcAft>
                <a:spcPts val="450"/>
              </a:spcAft>
              <a:buNone/>
            </a:pPr>
            <a:r>
              <a:rPr lang="en-US" sz="1425" b="1" dirty="0">
                <a:solidFill>
                  <a:srgbClr val="667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Lancement de l'application</a:t>
            </a:r>
            <a:endParaRPr lang="en-US" sz="1425" dirty="0"/>
          </a:p>
        </p:txBody>
      </p:sp>
      <p:sp>
        <p:nvSpPr>
          <p:cNvPr id="9" name="Text 7"/>
          <p:cNvSpPr/>
          <p:nvPr/>
        </p:nvSpPr>
        <p:spPr>
          <a:xfrm>
            <a:off x="952500" y="2544961"/>
            <a:ext cx="7239000" cy="377130"/>
          </a:xfrm>
          <a:prstGeom prst="roundRect">
            <a:avLst>
              <a:gd name="adj" fmla="val 15154"/>
            </a:avLst>
          </a:prstGeom>
          <a:solidFill>
            <a:srgbClr val="1A202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1104900" y="2640211"/>
            <a:ext cx="7072884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bash deploy.sh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952500" y="3093541"/>
            <a:ext cx="7383780" cy="2171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10"/>
              </a:lnSpc>
              <a:spcAft>
                <a:spcPts val="450"/>
              </a:spcAft>
              <a:buNone/>
            </a:pPr>
            <a:r>
              <a:rPr lang="en-US" sz="1425" b="1" dirty="0">
                <a:solidFill>
                  <a:srgbClr val="667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Accès à l'interface</a:t>
            </a:r>
            <a:endParaRPr lang="en-US" sz="1425" dirty="0"/>
          </a:p>
        </p:txBody>
      </p:sp>
      <p:sp>
        <p:nvSpPr>
          <p:cNvPr id="12" name="Text 10"/>
          <p:cNvSpPr/>
          <p:nvPr/>
        </p:nvSpPr>
        <p:spPr>
          <a:xfrm>
            <a:off x="952500" y="3367832"/>
            <a:ext cx="7239000" cy="455265"/>
          </a:xfrm>
          <a:prstGeom prst="roundRect">
            <a:avLst>
              <a:gd name="adj" fmla="val 14645"/>
            </a:avLst>
          </a:prstGeom>
          <a:solidFill>
            <a:srgbClr val="FEF3C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966788" y="3367832"/>
            <a:ext cx="0" cy="455265"/>
          </a:xfrm>
          <a:prstGeom prst="line">
            <a:avLst/>
          </a:prstGeom>
          <a:noFill/>
          <a:ln w="28575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/>
          <p:nvPr/>
        </p:nvSpPr>
        <p:spPr>
          <a:xfrm>
            <a:off x="1152525" y="3482132"/>
            <a:ext cx="7004876" cy="2266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85"/>
              </a:lnSpc>
              <a:buNone/>
            </a:pPr>
            <a:r>
              <a:rPr lang="en-US" sz="1275" b="1" dirty="0">
                <a:solidFill>
                  <a:srgbClr val="7835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👉 Ouvrir : http://localhost:8501</a:t>
            </a:r>
            <a:endParaRPr lang="en-US" sz="1275" dirty="0"/>
          </a:p>
        </p:txBody>
      </p:sp>
      <p:pic>
        <p:nvPicPr>
          <p:cNvPr id="15" name="Image 0" descr="/tmp/rasterized-gradient-7a12922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2500" y="3994547"/>
            <a:ext cx="7239000" cy="441871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1123950" y="4108847"/>
            <a:ext cx="7034022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➜ L'utilisateur n'a rien à installer : tout tourne dans Docker.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9906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71500" y="285750"/>
            <a:ext cx="4090226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3300" b="1" dirty="0">
                <a:solidFill>
                  <a:srgbClr val="4433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Technologie utilisée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571500" y="1323975"/>
            <a:ext cx="8001000" cy="2903041"/>
          </a:xfrm>
          <a:prstGeom prst="roundRect">
            <a:avLst>
              <a:gd name="adj" fmla="val 3281"/>
            </a:avLst>
          </a:prstGeom>
          <a:solidFill>
            <a:srgbClr val="FFFFFF"/>
          </a:solidFill>
          <a:ln/>
          <a:effectLst>
            <a:outerShdw blurRad="152400" dist="57150" dir="5400000" algn="bl" rotWithShape="0">
              <a:srgbClr val="000000">
                <a:alpha val="12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000125" y="1590675"/>
            <a:ext cx="7286625" cy="2266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85"/>
              </a:lnSpc>
              <a:spcAft>
                <a:spcPts val="1050"/>
              </a:spcAft>
              <a:buNone/>
            </a:pPr>
            <a:r>
              <a:rPr lang="en-US" sz="1275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</a:t>
            </a:r>
            <a:r>
              <a:rPr lang="en-US" sz="1275" b="1" dirty="0">
                <a:solidFill>
                  <a:srgbClr val="667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Streamlit</a:t>
            </a:r>
            <a:r>
              <a:rPr lang="en-US" sz="1275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→ interface web propre et moderne</a:t>
            </a:r>
            <a:endParaRPr lang="en-US" sz="1275" dirty="0"/>
          </a:p>
        </p:txBody>
      </p:sp>
      <p:sp>
        <p:nvSpPr>
          <p:cNvPr id="6" name="Text 4"/>
          <p:cNvSpPr/>
          <p:nvPr/>
        </p:nvSpPr>
        <p:spPr>
          <a:xfrm>
            <a:off x="1000125" y="1950690"/>
            <a:ext cx="7286625" cy="2266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85"/>
              </a:lnSpc>
              <a:spcAft>
                <a:spcPts val="1050"/>
              </a:spcAft>
              <a:buNone/>
            </a:pPr>
            <a:r>
              <a:rPr lang="en-US" sz="1275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</a:t>
            </a:r>
            <a:r>
              <a:rPr lang="en-US" sz="1275" b="1" dirty="0">
                <a:solidFill>
                  <a:srgbClr val="667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/ Machine Learning</a:t>
            </a:r>
            <a:r>
              <a:rPr lang="en-US" sz="1275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→ modèle prédictif intégré</a:t>
            </a:r>
            <a:endParaRPr lang="en-US" sz="1275" dirty="0"/>
          </a:p>
        </p:txBody>
      </p:sp>
      <p:sp>
        <p:nvSpPr>
          <p:cNvPr id="7" name="Text 5"/>
          <p:cNvSpPr/>
          <p:nvPr/>
        </p:nvSpPr>
        <p:spPr>
          <a:xfrm>
            <a:off x="1000125" y="2310705"/>
            <a:ext cx="7286625" cy="2266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85"/>
              </a:lnSpc>
              <a:spcAft>
                <a:spcPts val="1050"/>
              </a:spcAft>
              <a:buNone/>
            </a:pPr>
            <a:r>
              <a:rPr lang="en-US" sz="1275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</a:t>
            </a:r>
            <a:r>
              <a:rPr lang="en-US" sz="1275" b="1" dirty="0">
                <a:solidFill>
                  <a:srgbClr val="667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Docker</a:t>
            </a:r>
            <a:r>
              <a:rPr lang="en-US" sz="1275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→ déploiement en un clic</a:t>
            </a:r>
            <a:endParaRPr lang="en-US" sz="1275" dirty="0"/>
          </a:p>
        </p:txBody>
      </p:sp>
      <p:sp>
        <p:nvSpPr>
          <p:cNvPr id="8" name="Text 6"/>
          <p:cNvSpPr/>
          <p:nvPr/>
        </p:nvSpPr>
        <p:spPr>
          <a:xfrm>
            <a:off x="1000125" y="2670721"/>
            <a:ext cx="7286625" cy="2266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85"/>
              </a:lnSpc>
              <a:spcAft>
                <a:spcPts val="1050"/>
              </a:spcAft>
              <a:buNone/>
            </a:pPr>
            <a:r>
              <a:rPr lang="en-US" sz="1275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</a:t>
            </a:r>
            <a:r>
              <a:rPr lang="en-US" sz="1275" b="1" dirty="0">
                <a:solidFill>
                  <a:srgbClr val="667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 automatisé</a:t>
            </a:r>
            <a:r>
              <a:rPr lang="en-US" sz="1275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→ ingestion des données Google Drive</a:t>
            </a:r>
            <a:endParaRPr lang="en-US" sz="1275" dirty="0"/>
          </a:p>
        </p:txBody>
      </p:sp>
      <p:sp>
        <p:nvSpPr>
          <p:cNvPr id="9" name="Text 7"/>
          <p:cNvSpPr/>
          <p:nvPr/>
        </p:nvSpPr>
        <p:spPr>
          <a:xfrm>
            <a:off x="1000125" y="3030736"/>
            <a:ext cx="7286625" cy="2266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85"/>
              </a:lnSpc>
              <a:spcAft>
                <a:spcPts val="1050"/>
              </a:spcAft>
              <a:buNone/>
            </a:pPr>
            <a:r>
              <a:rPr lang="en-US" sz="1275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</a:t>
            </a:r>
            <a:r>
              <a:rPr lang="en-US" sz="1275" b="1" dirty="0">
                <a:solidFill>
                  <a:srgbClr val="667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 modulaire</a:t>
            </a:r>
            <a:r>
              <a:rPr lang="en-US" sz="1275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→ facile à maintenir</a:t>
            </a:r>
            <a:endParaRPr lang="en-US" sz="1275" dirty="0"/>
          </a:p>
        </p:txBody>
      </p:sp>
      <p:pic>
        <p:nvPicPr>
          <p:cNvPr id="10" name="Image 0" descr="/tmp/rasterized-gradient-97f8915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0125" y="3428851"/>
            <a:ext cx="7143750" cy="493365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09675" y="3562201"/>
            <a:ext cx="6859143" cy="2266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85"/>
              </a:lnSpc>
              <a:buNone/>
            </a:pPr>
            <a:r>
              <a:rPr lang="en-US" sz="12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➜ Un choix technologique adapté à la vitesse, la simplicité et la scalabilité.</a:t>
            </a:r>
            <a:endParaRPr lang="en-US" sz="1275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9906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71500" y="285750"/>
            <a:ext cx="4090226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3300" b="1" dirty="0">
                <a:solidFill>
                  <a:srgbClr val="4433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Valeur Business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571500" y="1323975"/>
            <a:ext cx="8001000" cy="3443436"/>
          </a:xfrm>
          <a:prstGeom prst="roundRect">
            <a:avLst>
              <a:gd name="adj" fmla="val 2766"/>
            </a:avLst>
          </a:prstGeom>
          <a:solidFill>
            <a:srgbClr val="FFFFFF"/>
          </a:solidFill>
          <a:ln/>
          <a:effectLst>
            <a:outerShdw blurRad="152400" dist="57150" dir="5400000" algn="bl" rotWithShape="0">
              <a:srgbClr val="000000">
                <a:alpha val="12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000125" y="1590675"/>
            <a:ext cx="7286625" cy="2513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80"/>
              </a:lnSpc>
              <a:spcAft>
                <a:spcPts val="1200"/>
              </a:spcAft>
              <a:buNone/>
            </a:pPr>
            <a:r>
              <a:rPr lang="en-US" sz="1650" b="1" dirty="0">
                <a:solidFill>
                  <a:srgbClr val="667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Pour les concessions :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1000125" y="1994446"/>
            <a:ext cx="7286625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90"/>
              </a:lnSpc>
              <a:spcAft>
                <a:spcPts val="1050"/>
              </a:spcAft>
              <a:buNone/>
            </a:pPr>
            <a:r>
              <a:rPr lang="en-US" sz="13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Décisions plus rapides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1000125" y="2367707"/>
            <a:ext cx="7286625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90"/>
              </a:lnSpc>
              <a:spcAft>
                <a:spcPts val="1050"/>
              </a:spcAft>
              <a:buNone/>
            </a:pPr>
            <a:r>
              <a:rPr lang="en-US" sz="13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Meilleur ciblage commercial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1000125" y="2740968"/>
            <a:ext cx="7286625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90"/>
              </a:lnSpc>
              <a:spcAft>
                <a:spcPts val="1050"/>
              </a:spcAft>
              <a:buNone/>
            </a:pPr>
            <a:r>
              <a:rPr lang="en-US" sz="13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Augmentation du taux de conversion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1000125" y="3114229"/>
            <a:ext cx="7286625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90"/>
              </a:lnSpc>
              <a:spcAft>
                <a:spcPts val="1050"/>
              </a:spcAft>
              <a:buNone/>
            </a:pPr>
            <a:r>
              <a:rPr lang="en-US" sz="13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Gain de temps dans l'analyse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1000125" y="3487489"/>
            <a:ext cx="7286625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90"/>
              </a:lnSpc>
              <a:spcAft>
                <a:spcPts val="1050"/>
              </a:spcAft>
              <a:buNone/>
            </a:pPr>
            <a:r>
              <a:rPr lang="en-US" sz="13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Outil simple &amp; sans formation</a:t>
            </a:r>
            <a:endParaRPr lang="en-US" sz="1350" dirty="0"/>
          </a:p>
        </p:txBody>
      </p:sp>
      <p:pic>
        <p:nvPicPr>
          <p:cNvPr id="11" name="Image 0" descr="/tmp/rasterized-gradient-bb37f08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0125" y="3917900"/>
            <a:ext cx="7143750" cy="544711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228725" y="4070300"/>
            <a:ext cx="6820281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➜ Impact direct sur les ventes.</a:t>
            </a:r>
            <a:endParaRPr lang="en-US" sz="13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9906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71500" y="285750"/>
            <a:ext cx="4090226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3300" b="1" dirty="0">
                <a:solidFill>
                  <a:srgbClr val="4433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571500" y="1323975"/>
            <a:ext cx="8001000" cy="2981027"/>
          </a:xfrm>
          <a:prstGeom prst="roundRect">
            <a:avLst>
              <a:gd name="adj" fmla="val 3195"/>
            </a:avLst>
          </a:prstGeom>
          <a:solidFill>
            <a:srgbClr val="FFFFFF"/>
          </a:solidFill>
          <a:ln/>
          <a:effectLst>
            <a:outerShdw blurRad="152400" dist="57150" dir="5400000" algn="bl" rotWithShape="0">
              <a:srgbClr val="000000">
                <a:alpha val="12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000125" y="1628775"/>
            <a:ext cx="72866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Aft>
                <a:spcPts val="1350"/>
              </a:spcAft>
              <a:buNone/>
            </a:pPr>
            <a:r>
              <a:rPr lang="en-US" sz="15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Une opportunité d'investissement :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000125" y="2066925"/>
            <a:ext cx="7286625" cy="2533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95"/>
              </a:lnSpc>
              <a:spcAft>
                <a:spcPts val="1050"/>
              </a:spcAft>
              <a:buNone/>
            </a:pPr>
            <a:r>
              <a:rPr lang="en-US" sz="1425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Le besoin est réel</a:t>
            </a:r>
            <a:endParaRPr lang="en-US" sz="1425" dirty="0"/>
          </a:p>
        </p:txBody>
      </p:sp>
      <p:sp>
        <p:nvSpPr>
          <p:cNvPr id="7" name="Text 5"/>
          <p:cNvSpPr/>
          <p:nvPr/>
        </p:nvSpPr>
        <p:spPr>
          <a:xfrm>
            <a:off x="1000125" y="2453580"/>
            <a:ext cx="7286625" cy="2533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95"/>
              </a:lnSpc>
              <a:spcAft>
                <a:spcPts val="1050"/>
              </a:spcAft>
              <a:buNone/>
            </a:pPr>
            <a:r>
              <a:rPr lang="en-US" sz="1425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La solution existe</a:t>
            </a:r>
            <a:endParaRPr lang="en-US" sz="1425" dirty="0"/>
          </a:p>
        </p:txBody>
      </p:sp>
      <p:sp>
        <p:nvSpPr>
          <p:cNvPr id="8" name="Text 6"/>
          <p:cNvSpPr/>
          <p:nvPr/>
        </p:nvSpPr>
        <p:spPr>
          <a:xfrm>
            <a:off x="1000125" y="2840236"/>
            <a:ext cx="7286625" cy="2533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95"/>
              </a:lnSpc>
              <a:spcAft>
                <a:spcPts val="1050"/>
              </a:spcAft>
              <a:buNone/>
            </a:pPr>
            <a:r>
              <a:rPr lang="en-US" sz="1425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Le produit est déjà fonctionnel</a:t>
            </a:r>
            <a:endParaRPr lang="en-US" sz="1425" dirty="0"/>
          </a:p>
        </p:txBody>
      </p:sp>
      <p:sp>
        <p:nvSpPr>
          <p:cNvPr id="9" name="Text 7"/>
          <p:cNvSpPr/>
          <p:nvPr/>
        </p:nvSpPr>
        <p:spPr>
          <a:xfrm>
            <a:off x="1000125" y="3226891"/>
            <a:ext cx="7286625" cy="2533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95"/>
              </a:lnSpc>
              <a:spcAft>
                <a:spcPts val="1050"/>
              </a:spcAft>
              <a:buNone/>
            </a:pPr>
            <a:r>
              <a:rPr lang="en-US" sz="1425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L'impact business est clair</a:t>
            </a:r>
            <a:endParaRPr lang="en-US" sz="1425" dirty="0"/>
          </a:p>
        </p:txBody>
      </p:sp>
      <p:sp>
        <p:nvSpPr>
          <p:cNvPr id="10" name="Text 8"/>
          <p:cNvSpPr/>
          <p:nvPr/>
        </p:nvSpPr>
        <p:spPr>
          <a:xfrm>
            <a:off x="1000125" y="3613547"/>
            <a:ext cx="7286625" cy="2533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95"/>
              </a:lnSpc>
              <a:spcAft>
                <a:spcPts val="1050"/>
              </a:spcAft>
              <a:buNone/>
            </a:pPr>
            <a:r>
              <a:rPr lang="en-US" sz="1425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La vision est ambitieuse</a:t>
            </a:r>
            <a:endParaRPr lang="en-US" sz="142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562</Words>
  <Application>Microsoft Macintosh PowerPoint</Application>
  <PresentationFormat>Affichage à l'écran (16:9)</PresentationFormat>
  <Paragraphs>96</Paragraphs>
  <Slides>11</Slides>
  <Notes>11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11</vt:i4>
      </vt:variant>
    </vt:vector>
  </HeadingPairs>
  <TitlesOfParts>
    <vt:vector size="14" baseType="lpstr">
      <vt:lpstr>Arial</vt:lpstr>
      <vt:lpstr>Courier New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Plateforme d'Analyse &amp; de Prédiction Automobile</dc:title>
  <dc:subject>PptxGenJS Presentation</dc:subject>
  <dc:creator>Plateforme d'Analyse &amp; de Prédiction Automobile</dc:creator>
  <cp:lastModifiedBy>Marwan Hamzaoui</cp:lastModifiedBy>
  <cp:revision>3</cp:revision>
  <dcterms:created xsi:type="dcterms:W3CDTF">2025-12-01T14:51:15Z</dcterms:created>
  <dcterms:modified xsi:type="dcterms:W3CDTF">2025-12-05T17:13:28Z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d5c20be7-c3a5-46e3-9158-fa8a02ce2395_Enabled">
    <vt:lpwstr>true</vt:lpwstr>
  </property>
  <property fmtid="{D5CDD505-2E9C-101B-9397-08002B2CF9AE}" pid="3" name="MSIP_Label_d5c20be7-c3a5-46e3-9158-fa8a02ce2395_SetDate">
    <vt:lpwstr>2025-12-05T17:12:53Z</vt:lpwstr>
  </property>
  <property fmtid="{D5CDD505-2E9C-101B-9397-08002B2CF9AE}" pid="4" name="MSIP_Label_d5c20be7-c3a5-46e3-9158-fa8a02ce2395_Method">
    <vt:lpwstr>Privileged</vt:lpwstr>
  </property>
  <property fmtid="{D5CDD505-2E9C-101B-9397-08002B2CF9AE}" pid="5" name="MSIP_Label_d5c20be7-c3a5-46e3-9158-fa8a02ce2395_Name">
    <vt:lpwstr>defa4170-0d19-0005-0004-bc88714345d2</vt:lpwstr>
  </property>
  <property fmtid="{D5CDD505-2E9C-101B-9397-08002B2CF9AE}" pid="6" name="MSIP_Label_d5c20be7-c3a5-46e3-9158-fa8a02ce2395_SiteId">
    <vt:lpwstr>8c6f9078-037e-4261-a583-52a944e55f7f</vt:lpwstr>
  </property>
  <property fmtid="{D5CDD505-2E9C-101B-9397-08002B2CF9AE}" pid="7" name="MSIP_Label_d5c20be7-c3a5-46e3-9158-fa8a02ce2395_ActionId">
    <vt:lpwstr>5183187b-c321-4b62-bf04-90c51bcac7e7</vt:lpwstr>
  </property>
  <property fmtid="{D5CDD505-2E9C-101B-9397-08002B2CF9AE}" pid="8" name="MSIP_Label_d5c20be7-c3a5-46e3-9158-fa8a02ce2395_ContentBits">
    <vt:lpwstr>0</vt:lpwstr>
  </property>
</Properties>
</file>