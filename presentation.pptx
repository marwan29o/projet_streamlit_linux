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/>
    <p:restoredTop sz="94610"/>
  </p:normalViewPr>
  <p:slideViewPr>
    <p:cSldViewPr snapToGrid="0" snapToObjects="1">
      <p:cViewPr>
        <p:scale>
          <a:sx n="176" d="100"/>
          <a:sy n="176" d="100"/>
        </p:scale>
        <p:origin x="-2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5948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1333" y="1687860"/>
            <a:ext cx="6101334" cy="1188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680"/>
              </a:lnSpc>
              <a:spcAft>
                <a:spcPts val="2250"/>
              </a:spcAft>
              <a:buNone/>
            </a:pPr>
            <a:r>
              <a:rPr lang="en-US" sz="3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 d'Analyse &amp; de Prédiction Automobile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906828" y="3162151"/>
            <a:ext cx="7330345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31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solution intelligente pour piloter les décisions commerciales automobiles.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Problème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2843957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590675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20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concessions et vendeurs automobiles manquent d'outils simples pour :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000125" y="1996380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Comparer rapidement des véhicules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00125" y="232782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Analyser les prospects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1000125" y="265926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Prédire l'intention d'achat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1000125" y="299070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Exploiter efficacement leurs données internes</a:t>
            </a:r>
            <a:endParaRPr lang="en-US" sz="1275" dirty="0"/>
          </a:p>
        </p:txBody>
      </p:sp>
      <p:pic>
        <p:nvPicPr>
          <p:cNvPr id="10" name="Image 0" descr="/tmp/rasterized-gradient-b6d515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3369766"/>
            <a:ext cx="7143750" cy="4933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09675" y="3503116"/>
            <a:ext cx="6859143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Résultat : perte de prospects et décisions moins efficaces.</a:t>
            </a:r>
            <a:endParaRPr lang="en-US" sz="12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L'Opportunité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2297311"/>
          </a:xfrm>
          <a:prstGeom prst="roundRect">
            <a:avLst>
              <a:gd name="adj" fmla="val 4146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628775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1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 secteur automobile génère des volumes de données énormes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1000125" y="1998315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1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Les équipes commerciales n'ont pas d'outil adapté et intuitif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00125" y="2367855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1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Les solutions actuelles sont complexes, chères ou inexistantes</a:t>
            </a:r>
            <a:endParaRPr lang="en-US" sz="1275" dirty="0"/>
          </a:p>
        </p:txBody>
      </p:sp>
      <p:pic>
        <p:nvPicPr>
          <p:cNvPr id="8" name="Image 0" descr="/tmp/rasterized-gradient-028c00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2785021"/>
            <a:ext cx="7143750" cy="5314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9675" y="2937421"/>
            <a:ext cx="6859143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Une vraie opportunité pour un outil simple, moderne et prédictif.</a:t>
            </a:r>
            <a:endParaRPr lang="en-US" sz="12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Notre Solution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3118247"/>
          </a:xfrm>
          <a:prstGeom prst="roundRect">
            <a:avLst>
              <a:gd name="adj" fmla="val 3055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571625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05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plateforme Web qui permet :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000125" y="1958280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Comparaison instantanée des véhicules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00125" y="228972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Analyse comportementale des prospects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1000125" y="262116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Modèle prédictif d'intention d'achat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1000125" y="295260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Pipeline de données automatisé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1000125" y="328404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825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Déploiement en un clic via Docker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1000125" y="3663107"/>
            <a:ext cx="7143750" cy="493365"/>
          </a:xfrm>
          <a:prstGeom prst="roundRect">
            <a:avLst>
              <a:gd name="adj" fmla="val 13514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014413" y="3663107"/>
            <a:ext cx="0" cy="493365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219200" y="3796457"/>
            <a:ext cx="6868859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Une solution complète, rapide, et déjà opérationnelle.</a:t>
            </a:r>
            <a:endParaRPr lang="en-US" sz="12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10965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Fonctionnalités clés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2804071"/>
          </a:xfrm>
          <a:prstGeom prst="roundRect">
            <a:avLst>
              <a:gd name="adj" fmla="val 3397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628775"/>
            <a:ext cx="7286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375"/>
              </a:spcAft>
              <a:buNone/>
            </a:pPr>
            <a:r>
              <a:rPr lang="en-US" sz="15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Comparateur de véhicules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0125" y="1905000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instantanée des caractéristiques, prix, options.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00125" y="2360265"/>
            <a:ext cx="7286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375"/>
              </a:spcAft>
              <a:buNone/>
            </a:pPr>
            <a:r>
              <a:rPr lang="en-US" sz="15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Analyse de prospects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0125" y="2636490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Âge, réduction appliquée, pages vues.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1000125" y="3091755"/>
            <a:ext cx="7286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spcAft>
                <a:spcPts val="375"/>
              </a:spcAft>
              <a:buNone/>
            </a:pPr>
            <a:r>
              <a:rPr lang="en-US" sz="15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Prédiction d'achat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0125" y="3367980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ML intégré : score clair et interprétable.</a:t>
            </a:r>
            <a:endParaRPr lang="en-US" sz="12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du projet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276350"/>
            <a:ext cx="8001000" cy="3327797"/>
          </a:xfrm>
          <a:prstGeom prst="roundRect">
            <a:avLst>
              <a:gd name="adj" fmla="val 2862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4875" y="1447800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PROJET_STREAMLIT_LINUX/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04875" y="1611511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application Streamlit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04875" y="1775222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jeu de données principal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04875" y="1938933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deploy.sh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script de lancement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04875" y="2102644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Dockerfile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image Docker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04875" y="2266355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mosef_marketing.csv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données marketing (non </a:t>
            </a:r>
            <a:r>
              <a:rPr lang="en-US" sz="900" dirty="0" err="1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utilisées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4875" y="2430066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poetry.lock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versions figées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04875" y="2593777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pyproject.toml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configuration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04875" y="2757488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documentation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04875" y="2921198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04875" y="3084909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</a:t>
            </a: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environnement virtuel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4875" y="3248620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</a:t>
            </a: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catboost_info/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modèle ML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04875" y="3412331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</a:t>
            </a: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data_collector/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4875" y="3576042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</a:t>
            </a: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4875" y="3739753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├──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get_data.sh</a:t>
            </a: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récupération données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04875" y="3903464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└──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run.sh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04875" y="4067175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</a:t>
            </a:r>
            <a:r>
              <a:rPr lang="en-US" sz="900" b="1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conf/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04875" y="4230886"/>
            <a:ext cx="7480935" cy="154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15"/>
              </a:lnSpc>
              <a:spcAft>
                <a:spcPts val="75"/>
              </a:spcAft>
              <a:buNone/>
            </a:pPr>
            <a:r>
              <a:rPr lang="en-US" sz="90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</a:t>
            </a:r>
            <a:r>
              <a:rPr lang="en-US" sz="900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collector.conf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33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586816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données (automatisé)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571500" y="1266825"/>
            <a:ext cx="8001000" cy="2786509"/>
          </a:xfrm>
          <a:prstGeom prst="roundRect">
            <a:avLst>
              <a:gd name="adj" fmla="val 3418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533525"/>
            <a:ext cx="72866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1050"/>
              </a:spcAft>
              <a:buNone/>
            </a:pPr>
            <a:r>
              <a:rPr lang="en-US" sz="157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Étapes automatisées :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000125" y="1906786"/>
            <a:ext cx="728662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 script get_data.sh télécharge les données depuis Google Drive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0125" y="2234357"/>
            <a:ext cx="728662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 fichier data.csv est placé à la racine du projet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0125" y="2561927"/>
            <a:ext cx="728662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L'application charge automatiquement les données à son démarrage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0125" y="2889498"/>
            <a:ext cx="728662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Aft>
                <a:spcPts val="900"/>
              </a:spcAft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La visualisation + prédiction sont mises à jour instantanément</a:t>
            </a:r>
            <a:endParaRPr lang="en-US" sz="1200" dirty="0"/>
          </a:p>
        </p:txBody>
      </p:sp>
      <p:pic>
        <p:nvPicPr>
          <p:cNvPr id="10" name="Image 0" descr="/tmp/rasterized-gradient-ef7514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3255169"/>
            <a:ext cx="7143750" cy="4933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09675" y="3388519"/>
            <a:ext cx="6859143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Pas de manipulations manuelles → flux fiable et reproductible.</a:t>
            </a:r>
            <a:endParaRPr lang="en-US" sz="12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33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546982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lancer l'application ?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571500" y="1219200"/>
            <a:ext cx="8001000" cy="3483918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52500" y="1447800"/>
            <a:ext cx="7383780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450"/>
              </a:spcAft>
              <a:buNone/>
            </a:pPr>
            <a:r>
              <a:rPr lang="en-US" sz="142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Récupération des données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52500" y="1722090"/>
            <a:ext cx="7239000" cy="377130"/>
          </a:xfrm>
          <a:prstGeom prst="roundRect">
            <a:avLst>
              <a:gd name="adj" fmla="val 15154"/>
            </a:avLst>
          </a:prstGeom>
          <a:solidFill>
            <a:srgbClr val="1A202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04900" y="1817340"/>
            <a:ext cx="707288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data_collector/bin/get_data.sh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52500" y="2270671"/>
            <a:ext cx="7383780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450"/>
              </a:spcAft>
              <a:buNone/>
            </a:pPr>
            <a:r>
              <a:rPr lang="en-US" sz="142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Lancement de l'application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952500" y="2544961"/>
            <a:ext cx="7239000" cy="377130"/>
          </a:xfrm>
          <a:prstGeom prst="roundRect">
            <a:avLst>
              <a:gd name="adj" fmla="val 15154"/>
            </a:avLst>
          </a:prstGeom>
          <a:solidFill>
            <a:srgbClr val="1A202C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04900" y="2640211"/>
            <a:ext cx="707288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deploy.sh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52500" y="3093541"/>
            <a:ext cx="7383780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450"/>
              </a:spcAft>
              <a:buNone/>
            </a:pPr>
            <a:r>
              <a:rPr lang="en-US" sz="142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Accès à l'interface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952500" y="3367832"/>
            <a:ext cx="7239000" cy="455265"/>
          </a:xfrm>
          <a:prstGeom prst="roundRect">
            <a:avLst>
              <a:gd name="adj" fmla="val 14645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66788" y="3367832"/>
            <a:ext cx="0" cy="455265"/>
          </a:xfrm>
          <a:prstGeom prst="line">
            <a:avLst/>
          </a:prstGeom>
          <a:noFill/>
          <a:ln w="285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152525" y="3482132"/>
            <a:ext cx="7004876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7835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👉 Ouvrir : http://localhost:8501</a:t>
            </a:r>
            <a:endParaRPr lang="en-US" sz="1275" dirty="0"/>
          </a:p>
        </p:txBody>
      </p:sp>
      <p:pic>
        <p:nvPicPr>
          <p:cNvPr id="15" name="Image 0" descr="/tmp/rasterized-gradient-7a1292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3994547"/>
            <a:ext cx="7239000" cy="441871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23950" y="4108847"/>
            <a:ext cx="7034022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L'utilisateur n'a rien à installer : tout tourne dans Docker.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 utilisée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2903041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590675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050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27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interface web propre et moderne</a:t>
            </a:r>
            <a:endParaRPr lang="en-US" sz="1275" dirty="0"/>
          </a:p>
        </p:txBody>
      </p:sp>
      <p:sp>
        <p:nvSpPr>
          <p:cNvPr id="6" name="Text 4"/>
          <p:cNvSpPr/>
          <p:nvPr/>
        </p:nvSpPr>
        <p:spPr>
          <a:xfrm>
            <a:off x="1000125" y="1950690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050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27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Machine Learning</a:t>
            </a: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modèle prédictif intégré</a:t>
            </a:r>
            <a:endParaRPr lang="en-US" sz="1275" dirty="0"/>
          </a:p>
        </p:txBody>
      </p:sp>
      <p:sp>
        <p:nvSpPr>
          <p:cNvPr id="7" name="Text 5"/>
          <p:cNvSpPr/>
          <p:nvPr/>
        </p:nvSpPr>
        <p:spPr>
          <a:xfrm>
            <a:off x="1000125" y="2310705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050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27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déploiement en un clic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1000125" y="2670721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050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27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automatisé</a:t>
            </a: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ingestion des données Google Drive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1000125" y="3030736"/>
            <a:ext cx="7286625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spcAft>
                <a:spcPts val="1050"/>
              </a:spcAft>
              <a:buNone/>
            </a:pP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</a:t>
            </a:r>
            <a:r>
              <a:rPr lang="en-US" sz="1275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modulaire</a:t>
            </a:r>
            <a:r>
              <a:rPr lang="en-US" sz="127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facile à maintenir</a:t>
            </a:r>
            <a:endParaRPr lang="en-US" sz="1275" dirty="0"/>
          </a:p>
        </p:txBody>
      </p:sp>
      <p:pic>
        <p:nvPicPr>
          <p:cNvPr id="10" name="Image 0" descr="/tmp/rasterized-gradient-97f891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3428851"/>
            <a:ext cx="7143750" cy="4933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09675" y="3562201"/>
            <a:ext cx="6859143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Un choix technologique adapté à la vitesse, la simplicité et la scalabilité.</a:t>
            </a:r>
            <a:endParaRPr lang="en-US" sz="12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Valeur Business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3443436"/>
          </a:xfrm>
          <a:prstGeom prst="roundRect">
            <a:avLst>
              <a:gd name="adj" fmla="val 2766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590675"/>
            <a:ext cx="7286625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80"/>
              </a:lnSpc>
              <a:spcAft>
                <a:spcPts val="1200"/>
              </a:spcAft>
              <a:buNone/>
            </a:pPr>
            <a:r>
              <a:rPr lang="en-US" sz="165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les concessions :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0125" y="1994446"/>
            <a:ext cx="72866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1050"/>
              </a:spcAft>
              <a:buNone/>
            </a:pPr>
            <a:r>
              <a:rPr lang="en-US" sz="13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Décisions plus rapides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0125" y="2367707"/>
            <a:ext cx="72866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1050"/>
              </a:spcAft>
              <a:buNone/>
            </a:pPr>
            <a:r>
              <a:rPr lang="en-US" sz="13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Meilleur ciblage commercial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00125" y="2740968"/>
            <a:ext cx="72866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1050"/>
              </a:spcAft>
              <a:buNone/>
            </a:pPr>
            <a:r>
              <a:rPr lang="en-US" sz="13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Augmentation du taux de conversion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0125" y="3114229"/>
            <a:ext cx="72866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1050"/>
              </a:spcAft>
              <a:buNone/>
            </a:pPr>
            <a:r>
              <a:rPr lang="en-US" sz="13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Gain de temps dans l'analyse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0125" y="3487489"/>
            <a:ext cx="7286625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1050"/>
              </a:spcAft>
              <a:buNone/>
            </a:pPr>
            <a:r>
              <a:rPr lang="en-US" sz="13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Outil simple &amp; sans formation</a:t>
            </a:r>
            <a:endParaRPr lang="en-US" sz="1350" dirty="0"/>
          </a:p>
        </p:txBody>
      </p:sp>
      <p:pic>
        <p:nvPicPr>
          <p:cNvPr id="11" name="Image 0" descr="/tmp/rasterized-gradient-bb37f0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125" y="3917900"/>
            <a:ext cx="7143750" cy="54471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28725" y="4070300"/>
            <a:ext cx="6820281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➜ Impact direct sur les ventes.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906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09022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4433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71500" y="1323975"/>
            <a:ext cx="8001000" cy="2981027"/>
          </a:xfrm>
          <a:prstGeom prst="roundRect">
            <a:avLst>
              <a:gd name="adj" fmla="val 3195"/>
            </a:avLst>
          </a:prstGeom>
          <a:solidFill>
            <a:srgbClr val="FFFFFF"/>
          </a:solidFill>
          <a:ln/>
          <a:effectLst>
            <a:outerShdw blurRad="152400" dist="57150" dir="5400000" algn="bl" rotWithShape="0">
              <a:srgbClr val="000000">
                <a:alpha val="12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000125" y="1628775"/>
            <a:ext cx="7286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350"/>
              </a:spcAft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opportunité d'investissement 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0125" y="2066925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05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 besoin est réel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1000125" y="2453580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05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La solution existe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1000125" y="2840236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05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 produit est déjà fonctionnel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000125" y="3226891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05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L'impact business est clair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000125" y="3613547"/>
            <a:ext cx="7286625" cy="253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95"/>
              </a:lnSpc>
              <a:spcAft>
                <a:spcPts val="1050"/>
              </a:spcAft>
              <a:buNone/>
            </a:pPr>
            <a:r>
              <a:rPr lang="en-US" sz="1425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La vision est ambitieuse</a:t>
            </a:r>
            <a:endParaRPr lang="en-US" sz="14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563</Words>
  <Application>Microsoft Macintosh PowerPoint</Application>
  <PresentationFormat>Affichage à l'écran (16:9)</PresentationFormat>
  <Paragraphs>96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Plateforme d'Analyse &amp; de Prédiction Automobile</dc:title>
  <dc:subject>PptxGenJS Presentation</dc:subject>
  <dc:creator>Plateforme d'Analyse &amp; de Prédiction Automobile</dc:creator>
  <cp:lastModifiedBy>Marwan Hamzaoui</cp:lastModifiedBy>
  <cp:revision>2</cp:revision>
  <dcterms:created xsi:type="dcterms:W3CDTF">2025-12-01T14:51:15Z</dcterms:created>
  <dcterms:modified xsi:type="dcterms:W3CDTF">2025-12-05T16:56:25Z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5c20be7-c3a5-46e3-9158-fa8a02ce2395_Enabled">
    <vt:lpwstr>true</vt:lpwstr>
  </property>
  <property fmtid="{D5CDD505-2E9C-101B-9397-08002B2CF9AE}" pid="3" name="MSIP_Label_d5c20be7-c3a5-46e3-9158-fa8a02ce2395_SetDate">
    <vt:lpwstr>2025-12-01T18:46:44Z</vt:lpwstr>
  </property>
  <property fmtid="{D5CDD505-2E9C-101B-9397-08002B2CF9AE}" pid="4" name="MSIP_Label_d5c20be7-c3a5-46e3-9158-fa8a02ce2395_Method">
    <vt:lpwstr>Standard</vt:lpwstr>
  </property>
  <property fmtid="{D5CDD505-2E9C-101B-9397-08002B2CF9AE}" pid="5" name="MSIP_Label_d5c20be7-c3a5-46e3-9158-fa8a02ce2395_Name">
    <vt:lpwstr>defa4170-0d19-0005-0004-bc88714345d2</vt:lpwstr>
  </property>
  <property fmtid="{D5CDD505-2E9C-101B-9397-08002B2CF9AE}" pid="6" name="MSIP_Label_d5c20be7-c3a5-46e3-9158-fa8a02ce2395_SiteId">
    <vt:lpwstr>8c6f9078-037e-4261-a583-52a944e55f7f</vt:lpwstr>
  </property>
  <property fmtid="{D5CDD505-2E9C-101B-9397-08002B2CF9AE}" pid="7" name="MSIP_Label_d5c20be7-c3a5-46e3-9158-fa8a02ce2395_ActionId">
    <vt:lpwstr>5183187b-c321-4b62-bf04-90c51bcac7e7</vt:lpwstr>
  </property>
  <property fmtid="{D5CDD505-2E9C-101B-9397-08002B2CF9AE}" pid="8" name="MSIP_Label_d5c20be7-c3a5-46e3-9158-fa8a02ce2395_ContentBits">
    <vt:lpwstr>0</vt:lpwstr>
  </property>
</Properties>
</file>